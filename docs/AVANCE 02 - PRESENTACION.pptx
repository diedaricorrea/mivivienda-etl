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a2dad19dd54b6d" /><Relationship Type="http://schemas.openxmlformats.org/officeDocument/2006/relationships/extended-properties" Target="/docProps/app.xml" Id="R8cd3718300884cc0" /><Relationship Type="http://schemas.openxmlformats.org/officeDocument/2006/relationships/officeDocument" Target="/ppt/presentation.xml" Id="Rfaff1036c80e4d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c51eca0efb422e"/>
  </p:sldMasterIdLst>
  <p:notesMasterIdLst>
    <p:notesMasterId xmlns:r="http://schemas.openxmlformats.org/officeDocument/2006/relationships" r:id="R20720b13fb1240a1"/>
  </p:notesMasterIdLst>
  <p:sldIdLst>
    <p:sldId xmlns:r="http://schemas.openxmlformats.org/officeDocument/2006/relationships" id="256" r:id="R7e2b817db74c44a1"/>
    <p:sldId xmlns:r="http://schemas.openxmlformats.org/officeDocument/2006/relationships" id="257" r:id="R048d7c5f1a8b4724"/>
    <p:sldId xmlns:r="http://schemas.openxmlformats.org/officeDocument/2006/relationships" id="258" r:id="Rf47b527324ee4c4e"/>
    <p:sldId xmlns:r="http://schemas.openxmlformats.org/officeDocument/2006/relationships" id="259" r:id="R5d8d3acf16014c14"/>
    <p:sldId xmlns:r="http://schemas.openxmlformats.org/officeDocument/2006/relationships" id="260" r:id="Rda043630053d409f"/>
    <p:sldId xmlns:r="http://schemas.openxmlformats.org/officeDocument/2006/relationships" id="261" r:id="R644d19d6e5e74c86"/>
    <p:sldId xmlns:r="http://schemas.openxmlformats.org/officeDocument/2006/relationships" id="262" r:id="Rb131de928f9d40d1"/>
    <p:sldId xmlns:r="http://schemas.openxmlformats.org/officeDocument/2006/relationships" id="263" r:id="R5b25d75778744761"/>
    <p:sldId xmlns:r="http://schemas.openxmlformats.org/officeDocument/2006/relationships" id="264" r:id="Ra6a816923bb44483"/>
    <p:sldId xmlns:r="http://schemas.openxmlformats.org/officeDocument/2006/relationships" id="265" r:id="R4acaba4a7ce04092"/>
    <p:sldId xmlns:r="http://schemas.openxmlformats.org/officeDocument/2006/relationships" id="266" r:id="R52812d4161014369"/>
    <p:sldId xmlns:r="http://schemas.openxmlformats.org/officeDocument/2006/relationships" id="267" r:id="Rd27ae8701dfc40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2b8ddfb34f4dba" /><Relationship Type="http://schemas.openxmlformats.org/officeDocument/2006/relationships/slideMaster" Target="/ppt/slideMasters/slideMaster1.xml" Id="R85c51eca0efb422e" /><Relationship Type="http://schemas.openxmlformats.org/officeDocument/2006/relationships/notesMaster" Target="/ppt/notesMasters/notesMaster1.xml" Id="R20720b13fb1240a1" /><Relationship Type="http://schemas.openxmlformats.org/officeDocument/2006/relationships/presProps" Target="/ppt/presProps.xml" Id="R88c1623b00b84f41" /><Relationship Type="http://schemas.openxmlformats.org/officeDocument/2006/relationships/tableStyles" Target="/ppt/tableStyles.xml" Id="R54a0797749794796" /><Relationship Type="http://schemas.openxmlformats.org/officeDocument/2006/relationships/slide" Target="/ppt/slides/slide1.xml" Id="R7e2b817db74c44a1" /><Relationship Type="http://schemas.openxmlformats.org/officeDocument/2006/relationships/slide" Target="/ppt/slides/slide2.xml" Id="R048d7c5f1a8b4724" /><Relationship Type="http://schemas.openxmlformats.org/officeDocument/2006/relationships/slide" Target="/ppt/slides/slide3.xml" Id="Rf47b527324ee4c4e" /><Relationship Type="http://schemas.openxmlformats.org/officeDocument/2006/relationships/slide" Target="/ppt/slides/slide4.xml" Id="R5d8d3acf16014c14" /><Relationship Type="http://schemas.openxmlformats.org/officeDocument/2006/relationships/slide" Target="/ppt/slides/slide5.xml" Id="Rda043630053d409f" /><Relationship Type="http://schemas.openxmlformats.org/officeDocument/2006/relationships/slide" Target="/ppt/slides/slide6.xml" Id="R644d19d6e5e74c86" /><Relationship Type="http://schemas.openxmlformats.org/officeDocument/2006/relationships/slide" Target="/ppt/slides/slide7.xml" Id="Rb131de928f9d40d1" /><Relationship Type="http://schemas.openxmlformats.org/officeDocument/2006/relationships/slide" Target="/ppt/slides/slide8.xml" Id="R5b25d75778744761" /><Relationship Type="http://schemas.openxmlformats.org/officeDocument/2006/relationships/slide" Target="/ppt/slides/slide9.xml" Id="Ra6a816923bb44483" /><Relationship Type="http://schemas.openxmlformats.org/officeDocument/2006/relationships/slide" Target="/ppt/slides/slide10.xml" Id="R4acaba4a7ce04092" /><Relationship Type="http://schemas.openxmlformats.org/officeDocument/2006/relationships/slide" Target="/ppt/slides/slide11.xml" Id="R52812d4161014369" /><Relationship Type="http://schemas.openxmlformats.org/officeDocument/2006/relationships/slide" Target="/ppt/slides/slide12.xml" Id="Rd27ae8701dfc40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d9e225af9045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6ad2e7e37c4122" /><Relationship Type="http://schemas.openxmlformats.org/officeDocument/2006/relationships/notesMaster" Target="/ppt/notesMasters/notesMaster1.xml" Id="Rb4f9b8dfcf46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8dbfa16722416f" /><Relationship Type="http://schemas.openxmlformats.org/officeDocument/2006/relationships/notesMaster" Target="/ppt/notesMasters/notesMaster1.xml" Id="R2aad94aacae74b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e6af491063429e" /><Relationship Type="http://schemas.openxmlformats.org/officeDocument/2006/relationships/notesMaster" Target="/ppt/notesMasters/notesMaster1.xml" Id="R2d220f12323f4c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77b3515d0342ca" /><Relationship Type="http://schemas.openxmlformats.org/officeDocument/2006/relationships/notesMaster" Target="/ppt/notesMasters/notesMaster1.xml" Id="R6f9f400fa73f45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d7db67fb8b4ad3" /><Relationship Type="http://schemas.openxmlformats.org/officeDocument/2006/relationships/notesMaster" Target="/ppt/notesMasters/notesMaster1.xml" Id="R74b3eeb5ff2340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bef0130e64400e" /><Relationship Type="http://schemas.openxmlformats.org/officeDocument/2006/relationships/notesMaster" Target="/ppt/notesMasters/notesMaster1.xml" Id="R563e5597cabb44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415f7ffa9b492a" /><Relationship Type="http://schemas.openxmlformats.org/officeDocument/2006/relationships/notesMaster" Target="/ppt/notesMasters/notesMaster1.xml" Id="R853853f60289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1acb75ca9e4336" /><Relationship Type="http://schemas.openxmlformats.org/officeDocument/2006/relationships/notesMaster" Target="/ppt/notesMasters/notesMaster1.xml" Id="Rc4160b8722824e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a722cca843449f" /><Relationship Type="http://schemas.openxmlformats.org/officeDocument/2006/relationships/notesMaster" Target="/ppt/notesMasters/notesMaster1.xml" Id="Rcf347f6f120c4a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98e66b84e74c49" /><Relationship Type="http://schemas.openxmlformats.org/officeDocument/2006/relationships/notesMaster" Target="/ppt/notesMasters/notesMaster1.xml" Id="R36b2ef38cb9648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a946ff3aa7407e" /><Relationship Type="http://schemas.openxmlformats.org/officeDocument/2006/relationships/notesMaster" Target="/ppt/notesMasters/notesMaster1.xml" Id="Rc7aaa89e43d243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02554068284213" /><Relationship Type="http://schemas.openxmlformats.org/officeDocument/2006/relationships/notesMaster" Target="/ppt/notesMasters/notesMaster1.xml" Id="Ra047432600c44a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d89d5ce9f4b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2fe6830922431c" /><Relationship Type="http://schemas.openxmlformats.org/officeDocument/2006/relationships/slideLayout" Target="/ppt/slideLayouts/slideLayout1.xml" Id="R6a43b9cbd7634f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43b9cbd7634f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07bc759c7419d" /><Relationship Type="http://schemas.openxmlformats.org/officeDocument/2006/relationships/notesSlide" Target="/ppt/notesSlides/notesSlide1.xml" Id="R5724c63c127647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4d910605a493d" /><Relationship Type="http://schemas.openxmlformats.org/officeDocument/2006/relationships/notesSlide" Target="/ppt/notesSlides/notesSlide2.xml" Id="R8f794798c7794f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96417b3de41de" /><Relationship Type="http://schemas.openxmlformats.org/officeDocument/2006/relationships/image" Target="/ppt/media/image.png" Id="R379e0ee0e007454f" /><Relationship Type="http://schemas.openxmlformats.org/officeDocument/2006/relationships/notesSlide" Target="/ppt/notesSlides/notesSlide3.xml" Id="Ra4b6a50533f44f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cb64c5bca4f17" /><Relationship Type="http://schemas.openxmlformats.org/officeDocument/2006/relationships/image" Target="/ppt/media/image2.png" Id="Rf32dd47b457f4dd0" /><Relationship Type="http://schemas.openxmlformats.org/officeDocument/2006/relationships/notesSlide" Target="/ppt/notesSlides/notesSlide4.xml" Id="R5562807e82d843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401becdc7478a" /><Relationship Type="http://schemas.openxmlformats.org/officeDocument/2006/relationships/notesSlide" Target="/ppt/notesSlides/notesSlide5.xml" Id="R00944025a37349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31741896848a7" /><Relationship Type="http://schemas.openxmlformats.org/officeDocument/2006/relationships/notesSlide" Target="/ppt/notesSlides/notesSlide6.xml" Id="R024c4ac367864d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3a43362c643c0" /><Relationship Type="http://schemas.openxmlformats.org/officeDocument/2006/relationships/image" Target="/ppt/media/image3.png" Id="R8e18b757c0684842" /><Relationship Type="http://schemas.openxmlformats.org/officeDocument/2006/relationships/notesSlide" Target="/ppt/notesSlides/notesSlide7.xml" Id="Rc9879460745543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10717d8d34b45" /><Relationship Type="http://schemas.openxmlformats.org/officeDocument/2006/relationships/image" Target="/ppt/media/image4.png" Id="R0c74cbe2a5b547f5" /><Relationship Type="http://schemas.openxmlformats.org/officeDocument/2006/relationships/image" Target="/ppt/media/image5.png" Id="Rb3c26205e2954994" /><Relationship Type="http://schemas.openxmlformats.org/officeDocument/2006/relationships/notesSlide" Target="/ppt/notesSlides/notesSlide8.xml" Id="R71bbf6eb30ac4d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e211c15ad4c49" /><Relationship Type="http://schemas.openxmlformats.org/officeDocument/2006/relationships/notesSlide" Target="/ppt/notesSlides/notesSlide9.xml" Id="Rc2601d3ca0b043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17ff0bcc04c1a" /><Relationship Type="http://schemas.openxmlformats.org/officeDocument/2006/relationships/notesSlide" Target="/ppt/notesSlides/notesSlide10.xml" Id="Rdcaf14cd161842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1ce626dac4d1c" /><Relationship Type="http://schemas.openxmlformats.org/officeDocument/2006/relationships/image" Target="/ppt/media/image6.png" Id="R75d003336c6c4652" /><Relationship Type="http://schemas.openxmlformats.org/officeDocument/2006/relationships/notesSlide" Target="/ppt/notesSlides/notesSlide11.xml" Id="R39ecfadd43ff41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d292f3b1943be" /><Relationship Type="http://schemas.openxmlformats.org/officeDocument/2006/relationships/notesSlide" Target="/ppt/notesSlides/notesSlide12.xml" Id="Rc80c7d94e62f4f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929E0-0639-4BA3-A486-3DDC5371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428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FCEA1-EBAA-493B-8DEC-C7A06C26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51221-DA1F-43E7-B245-DEC507B8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4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69DEF-A04C-44AA-8DE4-E71B7DCF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627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CFF"/>
                </a:solidFill>
              </a:defRPr>
            </a:pPr>
            <a:r>
              <a:rPr sz="975" b="1">
                <a:solidFill>
                  <a:srgbClr val="C7DCFF"/>
                </a:solidFill>
              </a:rPr>
              <a:t>AVANCE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F019C-4558-4258-8A33-40432FAF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Implementación del ETL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y construcción del DataMart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3468E-D488-446E-8F2A-ECEBC36B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FD5F4"/>
                </a:solidFill>
              </a:defRPr>
            </a:pPr>
            <a:r>
              <a:rPr sz="1725" b="0">
                <a:solidFill>
                  <a:srgbClr val="BFD5F4"/>
                </a:solidFill>
              </a:rPr>
              <a:t>Colocaciones de créditos Mivivienda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E6C8C-2D66-4369-B96D-C66A45B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766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6FBB4-D662-461A-B0C2-460639CA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957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Daniel Alonso Correa Chanta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Jose Carlo Castro Franco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34036-F9BB-4435-BD69-613AD56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AE0"/>
                </a:solidFill>
              </a:defRPr>
            </a:pPr>
            <a:r>
              <a:rPr sz="1050" b="0">
                <a:solidFill>
                  <a:srgbClr val="B9CAE0"/>
                </a:solidFill>
              </a:rPr>
              <a:t>Universidad Tecnológica del Perú</a:t>
            </a:r>
          </a:p>
          <a:p xmlns:a="http://schemas.openxmlformats.org/drawingml/2006/main">
            <a:pPr algn="l">
              <a:defRPr sz="1050" b="0">
                <a:solidFill>
                  <a:srgbClr val="B9CAE0"/>
                </a:solidFill>
              </a:defRPr>
            </a:pPr>
            <a:r>
              <a:rPr sz="1050" b="0">
                <a:solidFill>
                  <a:srgbClr val="B9CAE0"/>
                </a:solidFill>
              </a:rPr>
              <a:t>Inteligencia de Negocios | Docente: Oscar Eduardo Balcazar Chumacero</a:t>
            </a:r>
          </a:p>
          <a:p xmlns:a="http://schemas.openxmlformats.org/drawingml/2006/main">
            <a:pPr algn="l">
              <a:defRPr sz="1050" b="0">
                <a:solidFill>
                  <a:srgbClr val="B9CAE0"/>
                </a:solidFill>
              </a:defRPr>
            </a:pPr>
            <a:r>
              <a:rPr sz="1050" b="0">
                <a:solidFill>
                  <a:srgbClr val="B9CAE0"/>
                </a:solidFill>
              </a:rPr>
              <a:t>Piura, Perú ·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E0944-FC99-4539-BD9D-C0433046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907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690C3-015B-4A10-AF18-4D3F686E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5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9AA82-E129-4112-85C7-AB772DC7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193A8-3C0F-48FA-B4B6-4746A10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47975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3AA51-3763-4CEC-9B9C-E6FEC1A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670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FLASK + WEB</a:t>
            </a:r>
          </a:p>
        </p:txBody>
      </p:sp>
    </p:spTree>
    <p:extLst>
      <p:ext uri="{BB962C8B-B14F-4D97-AF65-F5344CB8AC3E}">
        <p14:creationId xmlns:p14="http://schemas.microsoft.com/office/powerpoint/2010/main" val="1392222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7586D0-B711-4EF8-AD7F-9A2CDFD1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4A418-17E9-4B23-86C0-A56B16CA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Del diseño conceptual a una solución funcionando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7B7EF-D494-4D78-BE28-69A44A06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51204-118E-4CE8-AFA1-FE79C7AA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F5654-579E-43A5-90D6-67507E3D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El Avance 1 definió qué analizar. El Avance 2 demuestra que el flujo completo ya opera.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CD862-1ABB-4A14-9983-CB4729BE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622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D60B9-571D-459C-9CE2-0FA8B7D7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4BD1C-B25A-4F2D-A772-B5D58389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A4974-C025-420C-9421-F00C69B6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05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Origen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94560-FE65-4BC9-9183-F59AC628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Archivo CSV público con una sola tabla y 14 columnas.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8CD46-2103-4B9F-9CDF-BF74515C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33600"/>
            <a:ext cx="23622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F28BD-3382-4B36-A4FC-3D3A22B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05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04F47-CE08-425C-A960-50F3496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BB51E-231C-4EEE-8575-13E7AF3B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05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ETL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EB695-718C-4B92-B162-7E308C64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Python extrae, limpia, convierte, deduplica e integra.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00E57-F7C6-46C9-87D1-1EB404AC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33600"/>
            <a:ext cx="23622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C9AB1-CBA4-4082-89B3-77711402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13298-3C85-4EC6-A181-C1C1B586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241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8B09D-1091-478A-93EE-EE403DA9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DataMart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4FAC0-12FF-4270-9515-193AEC73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003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MySQL implementa staging, 5 dimensiones y 1 tabla de hechos.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2FBD6-8997-4E55-BB4E-11EF818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23622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866D46-160B-44DE-85CE-F59CF1D7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D399D-62CD-489A-8571-1E670265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ABA40-4548-435A-87CB-29E91997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Consumo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632F5-0D37-4F1F-8DB6-6F301AA8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Flask entrega APIs; HTML, CSS y JavaScript presentan el dashboard.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DFF96-A212-4629-90DB-3D06713C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4000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D58AD7-55ED-43E4-A7F4-B319308E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4000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2FBA5-884D-4369-977A-1A97537C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4000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20F74-18FD-42FA-A82C-DD172086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98488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88A12F-43B9-40BD-98EB-8E15A7FA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C3F7"/>
                </a:solidFill>
              </a:defRPr>
            </a:pPr>
            <a:r>
              <a:rPr sz="1200" b="1">
                <a:solidFill>
                  <a:srgbClr val="9FC3F7"/>
                </a:solidFill>
              </a:rPr>
              <a:t>Objetivo del avance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66ED0C-787E-43F7-87D8-7726DD21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Construir físicamente el DataMart y comprobar su integridad, calidad, rendimiento y utilidad analítica.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AA564-7F39-4ECA-9BD4-7746509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289F8C-4C92-49B7-9544-1DCDBF9C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81550"/>
            <a:ext cx="1228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SOLUCIÓN END-TO-END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BF81DA-A71C-4C3F-A2B2-ACBDCD54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Fuente: elaboración propia a partir del Avance 1 y los entregables implementados.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19B48E-61E1-4AFD-8A63-23811D74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1124927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86790D-C89B-4757-85F0-F89F1A3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5060C-5498-4DDC-8F3A-74B68BC8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Una sola solución: datos, backend y dashboard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939E8-A337-4592-A80C-F351CB92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3B8AD-6015-4A1E-B144-4C049933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6CAEF-58C9-41DA-9476-1105D0F0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90575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e0ee0e007454f"/>
          <a:stretch xmlns:a="http://schemas.openxmlformats.org/drawingml/2006/main"/>
        </p:blipFill>
        <p:spPr>
          <a:xfrm xmlns:a="http://schemas.openxmlformats.org/drawingml/2006/main">
            <a:off x="838200" y="1619845"/>
            <a:ext cx="7448550" cy="41898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82C97-4E78-462D-B785-1AD28313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09700"/>
            <a:ext cx="2819400" cy="46672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CC21D-AA73-4834-97AC-F012FD27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57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Flujo técnico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CEA12-C59D-456C-98A8-1D365B3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4C73D-859E-462C-98A4-8CBBA356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72CDB-4634-4D4D-B71B-3667BBE9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71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0E7AC-5438-45F4-BC19-726BDEAF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098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AE0"/>
                </a:solidFill>
              </a:defRPr>
            </a:pPr>
            <a:r>
              <a:rPr sz="825" b="0">
                <a:solidFill>
                  <a:srgbClr val="B9CAE0"/>
                </a:solidFill>
              </a:rPr>
              <a:t>Fuente origen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B4F5F-D050-4082-85FA-2DC66AA8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89F74-DB9E-45DC-9610-E23E67F2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16B53-855C-40A7-87A0-6F06C37E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Python ETL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B364A-4BFA-49B1-9579-1E169BD8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95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AE0"/>
                </a:solidFill>
              </a:defRPr>
            </a:pPr>
            <a:r>
              <a:rPr sz="825" b="0">
                <a:solidFill>
                  <a:srgbClr val="B9CAE0"/>
                </a:solidFill>
              </a:rPr>
              <a:t>Procesamiento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A7E9E-1326-4A2C-8EBE-E1FC250E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4B896-3299-4570-9CBA-3CCB2C3F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814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3CF14-6CE2-4038-B678-A3119A0A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C3854-8784-41D5-A945-366DEBCD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81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AE0"/>
                </a:solidFill>
              </a:defRPr>
            </a:pPr>
            <a:r>
              <a:rPr sz="825" b="0">
                <a:solidFill>
                  <a:srgbClr val="B9CAE0"/>
                </a:solidFill>
              </a:rPr>
              <a:t>DataMart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E4EB9-47A9-4FC8-A902-8A63F101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48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83977-843D-41F2-8B27-FAA0D9DE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A0747-AD59-481D-8707-31E2D871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29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Flask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CFAD4-860F-4182-BB6B-8F953697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672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AE0"/>
                </a:solidFill>
              </a:defRPr>
            </a:pPr>
            <a:r>
              <a:rPr sz="825" b="0">
                <a:solidFill>
                  <a:srgbClr val="B9CAE0"/>
                </a:solidFill>
              </a:rPr>
              <a:t>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075B3-076D-4B9F-AE4F-81D9B0F6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2C139-BEA8-475F-AF11-F450C448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53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8C46D0-3B29-4FC9-BAEB-D1A4C46F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14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HTML + 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C946C1-6AAA-4E41-8D75-555F3BBC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530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AE0"/>
                </a:solidFill>
              </a:defRPr>
            </a:pPr>
            <a:r>
              <a:rPr sz="825" b="0">
                <a:solidFill>
                  <a:srgbClr val="B9CAE0"/>
                </a:solidFill>
              </a:rPr>
              <a:t>Visualización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D12BC-104C-4282-BE25-228FE8FA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197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E4F3"/>
                </a:solidFill>
              </a:defRPr>
            </a:pPr>
            <a:r>
              <a:rPr sz="900" b="0">
                <a:solidFill>
                  <a:srgbClr val="D8E4F3"/>
                </a:solidFill>
              </a:rPr>
              <a:t>No se requiere Angular ni un backend separado: Flask sirve la API y también los archivos web.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AF7FC9-F763-470B-9CE8-E22E6354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Evidencia: arquitectura implementada en el repositorio.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C7A86B-5751-465E-B3B6-D3EE67A8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1268448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782610-DB7C-4168-8A79-135756A4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DATAMART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FAA97-FB6F-45E6-A7E7-07731DBD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Modelo estrella implementado en MySQL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6C765-3137-44DC-AC2F-89A72659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77B02-7603-416E-909F-5B33CB3D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E93F8-0289-495E-B6CE-848F68A4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5247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dd47b457f4dd0"/>
          <a:stretch xmlns:a="http://schemas.openxmlformats.org/drawingml/2006/main"/>
        </p:blipFill>
        <p:spPr>
          <a:xfrm xmlns:a="http://schemas.openxmlformats.org/drawingml/2006/main">
            <a:off x="800100" y="1715095"/>
            <a:ext cx="7143750" cy="40183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F6702-4026-4204-8F98-DB58B7B2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9700"/>
            <a:ext cx="3143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EAC6B-B87D-40D7-B872-FDBC84E8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52575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58D40-B552-49A2-A7EB-BCEB3174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668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</a:defRPr>
            </a:pPr>
            <a:r>
              <a:rPr sz="1050" b="1">
                <a:solidFill>
                  <a:srgbClr val="10233F"/>
                </a:solidFill>
              </a:rPr>
              <a:t>DIM_TIEMPO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1DE5F-C15E-48D7-83E4-402725C1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0497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204 registros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C0673-DF7F-415C-8DA1-4C9B68D2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52650"/>
            <a:ext cx="3143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3A86C-A36E-44C3-953E-8F611BA5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95525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D56A6-658F-429C-AA75-AEEBDAF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980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</a:defRPr>
            </a:pPr>
            <a:r>
              <a:rPr sz="1050" b="1">
                <a:solidFill>
                  <a:srgbClr val="10233F"/>
                </a:solidFill>
              </a:rPr>
              <a:t>DIM_GEOGRAFÍA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F6C9E-3CBC-4F59-AE3B-498A0765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4792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222 registros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4B67F-0CC6-4D73-890A-2AFD5615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3143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00709-886C-42E5-85BF-E97596C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38475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92AA8-2A2A-480F-9EB8-C7AA317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</a:defRPr>
            </a:pPr>
            <a:r>
              <a:rPr sz="1050" b="1">
                <a:solidFill>
                  <a:srgbClr val="10233F"/>
                </a:solidFill>
              </a:rPr>
              <a:t>DIM_PRODUCTO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B089A-1757-4CBB-8221-DDD73D42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9087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3 registros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E92B7-38B7-4062-AEB8-B5216ED9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3143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E5155-2607-4040-A35F-B4DE7A48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81425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8A2821-43D0-4E13-9B85-3ED38194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</a:defRPr>
            </a:pPr>
            <a:r>
              <a:rPr sz="1050" b="1">
                <a:solidFill>
                  <a:srgbClr val="10233F"/>
                </a:solidFill>
              </a:rPr>
              <a:t>DIM_IFI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315EA-7DE0-4371-B8EC-0FE93048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3382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16 registros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74B50-08BF-4154-9DDC-D69B823F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81500"/>
            <a:ext cx="3143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437A9-41C5-487C-8E7D-C2350FD0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7B4C9-FB0F-4CD9-B2FD-EEE4E406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</a:defRPr>
            </a:pPr>
            <a:r>
              <a:rPr sz="1050" b="1">
                <a:solidFill>
                  <a:srgbClr val="10233F"/>
                </a:solidFill>
              </a:rPr>
              <a:t>DIM_PLAZO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1DCFB8-8968-47F6-87DC-BFD6458C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7677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121 registros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D10C0-29A8-4942-9EC6-827A2D04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76850"/>
            <a:ext cx="3143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9F0407-37AD-46BF-B596-2C13165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91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FACT_CRÉDITO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8F4D3-258E-4D17-B320-3C901E99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38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D7ED"/>
                </a:solidFill>
              </a:defRPr>
            </a:pPr>
            <a:r>
              <a:rPr sz="900" b="0">
                <a:solidFill>
                  <a:srgbClr val="C5D7ED"/>
                </a:solidFill>
              </a:rPr>
              <a:t>9,336 créditos · grano: 1 desembolso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A6E765-EC6D-4B77-A522-2B3B4C98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PK, FK, NOT NULL, UNIQUE, CHECK e índices implementados mediante scripts SQL.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4390D1-EBA4-4601-B8C3-A907F789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1458032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8C285-CD4F-466B-AAD3-30E323A7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PROCESO ETL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5C30E-45E3-4404-86D1-42F5A2B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De 13,507 filas de origen a 9,336 hechos válidos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BBB38-A695-40F9-98E3-16023330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75450-554D-4591-B60D-B07C59EA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A435F-EF94-4B45-AA1B-58071D2F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419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6BE63-C2BE-4D11-82E2-2B464D5D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6FEB"/>
                </a:solidFill>
              </a:defRPr>
            </a:pPr>
            <a:r>
              <a:rPr sz="2250" b="1">
                <a:solidFill>
                  <a:srgbClr val="1F6FEB"/>
                </a:solidFill>
              </a:rPr>
              <a:t>13,507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C421C-F96E-4489-B5CD-C0048395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filas leídas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4C600-2BFC-4B9E-BC86-CBFAF6F9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0975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8C8A2-82E6-44B1-BCD3-324E907C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66850"/>
            <a:ext cx="2419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683C6-6473-471E-AECC-BDC25E2B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02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05252"/>
                </a:solidFill>
              </a:defRPr>
            </a:pPr>
            <a:r>
              <a:rPr sz="2250" b="1">
                <a:solidFill>
                  <a:srgbClr val="E05252"/>
                </a:solidFill>
              </a:rPr>
              <a:t>−4,160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C67C6-B65B-46FF-805F-961A76DF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filas vacías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19566-8CD9-4A97-9C4F-35E72A2A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6B65E-E75B-453C-9C6C-2CB3E3A0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2419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5C58-0321-4EEE-858F-B22F3268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9F43"/>
                </a:solidFill>
              </a:defRPr>
            </a:pPr>
            <a:r>
              <a:rPr sz="2250" b="1">
                <a:solidFill>
                  <a:srgbClr val="FF9F43"/>
                </a:solidFill>
              </a:rPr>
              <a:t>−11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64018-ED4B-4DBF-9E73-13A5D3BE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duplicados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11A5E-9CBA-4EEA-A560-77CEB8D9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24F7A-B4C7-4490-A983-A7FF4A71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66850"/>
            <a:ext cx="2419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E8BA4-03A1-498F-8BB8-0DF7CDB6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002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A999"/>
                </a:solidFill>
              </a:defRPr>
            </a:pPr>
            <a:r>
              <a:rPr sz="2250" b="1">
                <a:solidFill>
                  <a:srgbClr val="18A999"/>
                </a:solidFill>
              </a:rPr>
              <a:t>9,336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15E5C-052A-4BC0-89EB-4C203D1E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filas cargadas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D18D5-624C-41B1-B458-28BB6919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622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D10F6-03EF-45FF-BB68-5DDE0BBB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B1890-5C4B-4332-AC69-AD249298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43D3C-3BD1-4BDE-AB67-EE4F4948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Extract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618FF-FBCE-4092-884E-9218402D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Lectura del CSV con separador ; y validación de las 14 columnas.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8F4C6-5EE4-4B85-93C7-CB1D99D2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52750"/>
            <a:ext cx="23622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22202-CBAB-4EAE-9B7A-17D799DF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62302-CB11-4173-9768-E88351F0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F46AFF-303C-4C01-907F-7FF353B3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Transform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78B626-3845-42A4-9F47-21A92172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1950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Normalización, fechas, tipos numéricos, reglas de calidad y SHA-256.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47D29-1218-4D82-8141-1D568490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23622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3655F9-4AE9-4BAC-993B-14515BD4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2E7D88-3577-4A20-94D7-FC843D4F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A30C14-A2DF-4567-B629-5281A237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94B12F-E390-42B7-BC98-62E89251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1950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Staging → dimensiones → hechos, respetando claves y dependencias.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304FEA-A0FD-46F8-9A11-B4A8D7CA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4861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E05EFC-FD1E-4790-9C8A-E01E69CB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Clave técnica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4BFA8B-66EA-4567-B158-FD65754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D5F4"/>
                </a:solidFill>
              </a:defRPr>
            </a:pPr>
            <a:r>
              <a:rPr sz="1350" b="1">
                <a:solidFill>
                  <a:srgbClr val="BFD5F4"/>
                </a:solidFill>
              </a:rPr>
              <a:t>record_hash = SHA-256</a:t>
            </a:r>
          </a:p>
          <a:p xmlns:a="http://schemas.openxmlformats.org/drawingml/2006/main">
            <a:pPr algn="l">
              <a:defRPr sz="1350" b="1">
                <a:solidFill>
                  <a:srgbClr val="BFD5F4"/>
                </a:solidFill>
              </a:defRPr>
            </a:pPr>
            <a:r>
              <a:rPr sz="1350" b="1">
                <a:solidFill>
                  <a:srgbClr val="BFD5F4"/>
                </a:solidFill>
              </a:rPr>
              <a:t>sobre los 14 campos normalizados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FA79A3-F800-48DF-BD78-B170D851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1DEEF"/>
                </a:solidFill>
              </a:defRPr>
            </a:pPr>
            <a:r>
              <a:rPr sz="900" b="0">
                <a:solidFill>
                  <a:srgbClr val="D1DEEF"/>
                </a:solidFill>
              </a:rPr>
              <a:t>Permite deduplicación e incrementalidad aunque la fuente no tenga ID de crédito.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C3F0E5-E8CA-40E3-9D8C-CBBB3FE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29F0E3-6CD6-4A34-8305-FCFCDA5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0 FILAS INVÁLIDAS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CADDD9-FE36-4DB5-8CFC-F87AF8F7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95875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DC238D-E41D-48A1-9317-6EB367EB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149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FECHAS → DATE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129E2F-290C-445C-8A9C-903F4B90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95875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D80789-EBE3-4833-9AB3-14D1D382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149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A6D5"/>
                </a:solidFill>
              </a:defRPr>
            </a:pPr>
            <a:r>
              <a:rPr sz="900" b="1">
                <a:solidFill>
                  <a:srgbClr val="23A6D5"/>
                </a:solidFill>
              </a:rPr>
              <a:t>UBIGEO → CHAR(6)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F69495-FE7C-44FB-9524-C4078045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95875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FA9D4E-06D5-4B46-BD83-7B7D972A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149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F43"/>
                </a:solidFill>
              </a:defRPr>
            </a:pPr>
            <a:r>
              <a:rPr sz="900" b="1">
                <a:solidFill>
                  <a:srgbClr val="FF9F43"/>
                </a:solidFill>
              </a:rPr>
              <a:t>TEXTOS NORMALIZADOS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D92F5C-97D5-4484-B35F-AF6E7E0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Resultados obtenidos con el dataset Colocaciones de crédito Mivivienda 2024.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311269-A359-4D94-AB4F-E1FA9A30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1027533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944A71-2C1E-4AFE-9EDC-1E7D7706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5F779-D5D4-4998-9958-29985F17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Responsabilidad de los módulos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9B44E-7748-4390-9F63-A312340E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32DD8-498A-446C-8DF3-F34F66AB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2495E-3D49-4D80-80DE-F2DC1E2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352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9D874-328D-4323-818A-15FC0D1B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0CD20-176A-4C8E-8F8A-4D86114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CONFIGURACIÓN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5D784-DBCC-406F-B28A-F0B4B942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conexion.py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7455E-8DAC-43CA-B462-501888ED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2914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.env, rutas y motores SQLAlchemy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6BD0B-D1E9-4072-8233-8BDC628C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352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50132-4FEC-4D5B-B6A1-84FAD0FF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CB384-E089-46DE-9256-83FA4E74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037AC-BBD7-4467-A853-D03BF43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setup_database.py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FB877-279D-4A95-832C-9A6F7EB3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86025"/>
            <a:ext cx="2914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Crea la base y ejecuta los scripts 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7D55C-1A4F-4177-93BC-CF8EA703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3352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B3927-B77F-4816-8732-631169F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823F2-10B1-47A6-8F39-4BF01A1C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BEB36-4713-4681-BB8E-11F71921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8597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extract.py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FD60A-ABE3-4C1D-A027-25877D7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86025"/>
            <a:ext cx="2914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Lee el CSV y valida su estructura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30711-5E83-4A4C-A286-C1CA151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352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EF0FB-C7FE-4CD5-87BF-5FE88E74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A3AF1-7A4B-4A96-BE6E-964A0AF7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39682-AD03-4769-8AA4-B0A696D2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transform.py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9947B-0733-4288-AF20-016A53C1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2475"/>
            <a:ext cx="2914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Limpia, convierte, valida y genera el hash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35E49-2628-4E18-831A-B2619EFE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81400"/>
            <a:ext cx="3352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9F9CF-06F5-4C7A-9698-C200A6D2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C96BA-70CB-4A74-83A4-5ED583A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719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CB62FF-4410-4EEB-B914-4B476CF6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624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load.py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521AA0-7E64-4D28-A979-7DF01AC7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62475"/>
            <a:ext cx="2914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Carga staging, dimensiones y hechos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F3ADE2-A03A-4206-977E-4E601FE8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3352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7D3F42-89B1-4F43-8786-699F40C0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A5D28A-8956-4EE9-A423-DC1935E3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ORQUESTACIÓN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FE5EC4-D1BD-4EC6-AFDE-A499E7C2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624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</a:defRPr>
            </a:pPr>
            <a:r>
              <a:rPr sz="1425" b="1">
                <a:solidFill>
                  <a:srgbClr val="10233F"/>
                </a:solidFill>
              </a:rPr>
              <a:t>main.py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7DE995-408A-47AC-9C58-F031153D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62475"/>
            <a:ext cx="2914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Ejecuta initial o incremental y registra métricas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9FBA59-92B7-4735-844C-CF3A04D0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18F04B-11C4-47E3-AF35-1F9512A6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Equivalencia con Spring Boot: app.py ≈ Controller · DashboardService ≈ Service/Repository · tablas SQL ≈ entidades persistidas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7768DB-4FBA-4376-B7DD-4850FB9F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El diseño separa responsabilidades para facilitar pruebas, mantenimiento y explicación.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53E823-DFEC-4504-BF5F-092CA29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1684333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E5741-F91B-4E05-B715-3FDDD75E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CARGA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1931D-6B43-40A7-982D-0AD84A1D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Carga inicial e incremental comprobadas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1482B-799B-4ED0-91EE-EC68A60C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2481C-4F64-4732-B6D7-9943F68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AF462-BAC7-4D57-BDB2-585731B1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8b757c0684842"/>
          <a:stretch xmlns:a="http://schemas.openxmlformats.org/drawingml/2006/main"/>
        </p:blipFill>
        <p:spPr>
          <a:xfrm xmlns:a="http://schemas.openxmlformats.org/drawingml/2006/main">
            <a:off x="781050" y="1727597"/>
            <a:ext cx="6896100" cy="38790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46D80-01A4-4724-B4AF-D21930FE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60BD4-0C8A-415E-81C2-F9408D39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EF421-D71C-4FAC-B7E3-44C4FD71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716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9,336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24B32-4121-4174-94BB-1D8945E2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193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insertados en la carga inicial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54046-31BF-4BE4-96A5-5E9DC906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F5D44-2D6D-40CA-AA06-9690B206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73B7B-4B7D-4470-B421-85BFB3D9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26F1C-9184-42B8-BA32-42644860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766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nuevos registros al repetir incremental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644C2-7EF9-4610-A9DF-54890EF0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3429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0FF88-9D72-4648-9BAE-3BBC0DF8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33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¿Qué demuestra?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98936-5D6D-4C0E-8536-CA041B60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2DEEE"/>
                </a:solidFill>
              </a:defRPr>
            </a:pPr>
            <a:r>
              <a:rPr sz="1050" b="0">
                <a:solidFill>
                  <a:srgbClr val="D2DEEE"/>
                </a:solidFill>
              </a:rPr>
              <a:t>• La carga inicial reconstruye el DataMart.</a:t>
            </a:r>
          </a:p>
          <a:p xmlns:a="http://schemas.openxmlformats.org/drawingml/2006/main">
            <a:pPr algn="l">
              <a:defRPr sz="1050" b="0">
                <a:solidFill>
                  <a:srgbClr val="D2DEEE"/>
                </a:solidFill>
              </a:defRPr>
            </a:pPr>
            <a:r>
              <a:rPr sz="1050" b="0">
                <a:solidFill>
                  <a:srgbClr val="D2DEEE"/>
                </a:solidFill>
              </a:rPr>
              <a:t>• La incremental conserva lo existente.</a:t>
            </a:r>
          </a:p>
          <a:p xmlns:a="http://schemas.openxmlformats.org/drawingml/2006/main">
            <a:pPr algn="l">
              <a:defRPr sz="1050" b="0">
                <a:solidFill>
                  <a:srgbClr val="D2DEEE"/>
                </a:solidFill>
              </a:defRPr>
            </a:pPr>
            <a:r>
              <a:rPr sz="1050" b="0">
                <a:solidFill>
                  <a:srgbClr val="D2DEEE"/>
                </a:solidFill>
              </a:rPr>
              <a:t>• El hash evita volver a insertar el mismo crédito.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95282-3CD8-4DCF-B3B9-B88C6A1B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Evidencia de ejecución: modos initial e incremental.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8DF32-6EEE-40BE-ABB9-EDBDA696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41362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62BCF-E523-4F2A-970D-E9503346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7B95B-048C-4676-9971-B400EF38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Integridad, consistencia y rendimiento verificados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BFD3C-2989-464E-9F19-372FC3B1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7801F-5F48-4F00-928F-9947F806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2654D-2B19-4C2C-8CAF-072A03D0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38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4cbe2a5b547f5"/>
          <a:stretch xmlns:a="http://schemas.openxmlformats.org/drawingml/2006/main"/>
        </p:blipFill>
        <p:spPr>
          <a:xfrm xmlns:a="http://schemas.openxmlformats.org/drawingml/2006/main">
            <a:off x="909108" y="1600200"/>
            <a:ext cx="4639733" cy="2609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030B4-170F-471A-B6DE-FA7122D2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55054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26205e2954994"/>
          <a:stretch xmlns:a="http://schemas.openxmlformats.org/drawingml/2006/main"/>
        </p:blipFill>
        <p:spPr>
          <a:xfrm xmlns:a="http://schemas.openxmlformats.org/drawingml/2006/main">
            <a:off x="6509808" y="1600200"/>
            <a:ext cx="4639733" cy="2609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C55EC-E1DF-4571-81C9-DF62B8A4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419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92D54-C2A8-4DFB-9CC2-C77B11D2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B1839-6997-4574-8F04-192C99EE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910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9,336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A1D6B-8264-4D85-8484-9B00FF7F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hechos = hashes únicos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7C839-4271-42AB-ABEB-1768D49A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48200"/>
            <a:ext cx="2419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9661A-E17C-4D45-A8C0-A3BD4366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19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93932-2400-4700-8F7F-EE33A544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910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DED26-E7EA-4DB6-BDCC-E0C8852E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38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claves foráneas nulas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0B670-F5AA-4A0B-892F-4512294E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419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02B0D-3892-4627-8C0B-9F7E29EF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19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AAB82-5016-4ACA-8996-E1A8A80F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15B5F-9691-478B-9291-50C662B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montos inválidos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F8810-4B53-4CF5-A205-D8916558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48200"/>
            <a:ext cx="2419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B7E1A-9CC8-4182-81D8-C8ACB683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19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C4EA4-9A56-42B1-9569-35FBFD46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910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5/5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36DED-E710-4A1C-B871-6773632C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38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pruebas automatizadas aprobadas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EBB38-0633-400F-A900-04DDF13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F"/>
                </a:solidFill>
              </a:defRPr>
            </a:pPr>
            <a:r>
              <a:rPr sz="1125" b="1">
                <a:solidFill>
                  <a:srgbClr val="10233F"/>
                </a:solidFill>
              </a:rPr>
              <a:t>20 consultas al DashboardService: 186.91 ms promedio · 181.67 ms mediana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ECD2E2-AB91-4F3B-9ECB-78B1EF9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Pruebas: integridad, consistencia, calidad de información y rendimiento.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9A047-602B-4124-A5F1-80D607F4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7257401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C4390-1D82-4496-B29F-CBFB2317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C6362-7B8A-4F89-9EAD-DBF4C85B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Indicadores que ya responde el DataMart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F60AA-5671-4E37-99E6-C44F0A07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F1315-BABD-4F00-B9CA-219F99CF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7451F-22CE-4F05-A185-4B1C3C83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D5142-56CF-4CD7-997D-23EB17BE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2C68B-EA1F-442B-980C-7EA2114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9,336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7EFE4-72D3-4677-8ABC-295BE603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créditos colocados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3DE74-1B78-42AA-A4D9-B8BD8053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2875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E0BC4-D4E0-420D-9C52-6EA2DFC7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002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A51B5-D599-4C06-948F-5A1E8B5D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5716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S/ 1,695.9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062A5-8F61-421B-81F6-A0D94C1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193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monto total colocado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94A9A-BC87-42A1-831C-47CD8210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28750"/>
            <a:ext cx="257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67EF2-B164-4307-8BAA-40866E89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863DF-6CB9-458F-9485-9D2F5450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7162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S/ 181,649.95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2C674-705C-43AB-9BD7-11F0BD0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monto promedio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FD622-A175-47DE-BB9D-51229B90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C0928-8170-4259-938E-081870EA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D904C-9CD0-44B3-A469-472071AD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71625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10.03%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A3C8A-256C-435E-8A92-09CCDB41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193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tasa promedio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A7356-4763-4A4B-996D-F4A90CF4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69532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1FDA5-8BAD-496F-BA4D-509305E9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</a:defRPr>
            </a:pPr>
            <a:r>
              <a:rPr sz="1350" b="1">
                <a:solidFill>
                  <a:srgbClr val="10233F"/>
                </a:solidFill>
              </a:rPr>
              <a:t>Monto colocado por producto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FCFB3-E34E-4391-BAFB-0EB38F6A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</a:defRPr>
            </a:pPr>
            <a:r>
              <a:rPr sz="1050" b="1">
                <a:solidFill>
                  <a:srgbClr val="10233F"/>
                </a:solidFill>
              </a:rPr>
              <a:t>NMIV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A3880-3D09-4DEF-A2C5-70CF2FC3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62350"/>
            <a:ext cx="4953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D524B-3D48-431B-871D-44EE5DE8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62350"/>
            <a:ext cx="4953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0DEDF-B491-4D49-A31A-B2EA1FCB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290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B7A"/>
                </a:solidFill>
              </a:defRPr>
            </a:pPr>
            <a:r>
              <a:rPr sz="825" b="1">
                <a:solidFill>
                  <a:srgbClr val="5F6B7A"/>
                </a:solidFill>
              </a:rPr>
              <a:t>S/ 1,557.1 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81ED0-6C1B-48E1-A675-955ED3AB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</a:defRPr>
            </a:pPr>
            <a:r>
              <a:rPr sz="1050" b="1">
                <a:solidFill>
                  <a:srgbClr val="10233F"/>
                </a:solidFill>
              </a:rPr>
              <a:t>S-CRC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E32ACD-6E8D-4DA4-AFA2-3B7CA05D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4953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3D3312-60F7-48DA-AE6F-9640A335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38584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48943-46B8-40E0-8955-0F336815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339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B7A"/>
                </a:solidFill>
              </a:defRPr>
            </a:pPr>
            <a:r>
              <a:rPr sz="825" b="1">
                <a:solidFill>
                  <a:srgbClr val="5F6B7A"/>
                </a:solidFill>
              </a:rPr>
              <a:t>S/ 121.3 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55E15B-2F19-48F9-AD9F-467465DC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</a:defRPr>
            </a:pPr>
            <a:r>
              <a:rPr sz="1050" b="1">
                <a:solidFill>
                  <a:srgbClr val="10233F"/>
                </a:solidFill>
              </a:rPr>
              <a:t>FCTP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073F0-ED94-45E2-A695-E53D5D2E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4953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75A5FC-9FD3-46B8-BCFD-C5895B8C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1714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90F8A7-3385-421F-BAA4-614385B3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387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B7A"/>
                </a:solidFill>
              </a:defRPr>
            </a:pPr>
            <a:r>
              <a:rPr sz="825" b="1">
                <a:solidFill>
                  <a:srgbClr val="5F6B7A"/>
                </a:solidFill>
              </a:rPr>
              <a:t>S/ 17.5 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AC2D3C-8D49-447D-914D-96CC963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37909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A66E6F-DC31-44A9-83F0-FF6BCF8B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Hallazgos clave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78E716-8944-40BA-B83C-CE12C031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BDF8"/>
                </a:solidFill>
              </a:defRPr>
            </a:pPr>
            <a:r>
              <a:rPr sz="825" b="1">
                <a:solidFill>
                  <a:srgbClr val="91BDF8"/>
                </a:solidFill>
              </a:rPr>
              <a:t>SEPTIEMBRE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7659F5-6F78-4803-AFCD-BC83D54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S/ 227.5 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F73B16-9748-4A47-B081-68B23B61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243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7E9"/>
                </a:solidFill>
              </a:defRPr>
            </a:pPr>
            <a:r>
              <a:rPr sz="900" b="0">
                <a:solidFill>
                  <a:srgbClr val="C8D7E9"/>
                </a:solidFill>
              </a:rPr>
              <a:t>mes de mayor colocación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82B035-4F4D-4A6F-A37C-59F715C9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148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C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94943D-75CA-44BE-A1C6-FAC0A531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33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BDF8"/>
                </a:solidFill>
              </a:defRPr>
            </a:pPr>
            <a:r>
              <a:rPr sz="825" b="1">
                <a:solidFill>
                  <a:srgbClr val="91BDF8"/>
                </a:solidFill>
              </a:rPr>
              <a:t>LIMA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076AFC-6038-480D-9EDB-3F53624F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5,789 créditos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453639-AC12-4025-A3C3-EF2B8FD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054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7E9"/>
                </a:solidFill>
              </a:defRPr>
            </a:pPr>
            <a:r>
              <a:rPr sz="900" b="0">
                <a:solidFill>
                  <a:srgbClr val="C8D7E9"/>
                </a:solidFill>
              </a:rPr>
              <a:t>S/ 1,236.8 M colocados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6190A5-2C3B-47DD-8431-887EC2A6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KPIs calculados sobre fact_credito y las dimensiones del DataMart.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16E5D3-8B8D-4EB3-A5F5-F96CBA26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1166653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261544-F339-4D9F-B5CA-5CBDE25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APLICACIÓN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CE2BA-949A-4C31-B5CC-DA197BB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Flask conecta MySQL con HTML, CSS y JavaScript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4A028-8B6D-4786-8B33-4A4CB91C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52A92-62A5-4738-B42D-A06BB086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D8FD8-D4C3-4713-AC21-22A1E6D8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19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05A86-B7A8-4D11-978F-2CC462E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5892D-EDE7-4440-BA13-B4A714A9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28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</a:defRPr>
            </a:pPr>
            <a:r>
              <a:rPr sz="1125" b="1">
                <a:solidFill>
                  <a:srgbClr val="10233F"/>
                </a:solidFill>
              </a:rPr>
              <a:t>NAVEGADOR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2B06E-DB97-4BEE-B807-33FA8995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HTML + CSS + JS</a:t>
            </a:r>
          </a:p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Chart.js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3844D-45B7-422A-8982-FFFC0E11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DF84D-DC51-4A3F-9D14-9E166640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76400"/>
            <a:ext cx="2419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A07B0-6A35-469B-B04F-6250CE1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85D71-3D78-4B04-A426-D756D7D2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28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</a:defRPr>
            </a:pPr>
            <a:r>
              <a:rPr sz="1125" b="1">
                <a:solidFill>
                  <a:srgbClr val="10233F"/>
                </a:solidFill>
              </a:rPr>
              <a:t>FLASK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B6773-7A8D-4883-AF64-626B3FE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526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Rutas web y API</a:t>
            </a:r>
          </a:p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app.py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9C247-E933-44A9-8032-97C1782B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141B3-B245-4CB8-B797-9D292ACC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419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3E88D-AFB3-4448-AF7C-70157010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96332-4E1E-480F-B7EC-F837C43F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28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</a:defRPr>
            </a:pPr>
            <a:r>
              <a:rPr sz="1125" b="1">
                <a:solidFill>
                  <a:srgbClr val="10233F"/>
                </a:solidFill>
              </a:rPr>
              <a:t>SERVICIO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B054B-8CB6-4166-8D65-FEB3AE80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Consultas KPI</a:t>
            </a:r>
          </a:p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DashboardService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413FC-D6DA-4C7D-863C-B24FF90F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9FA9C-A5ED-4805-BF81-031A3833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76400"/>
            <a:ext cx="2419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99C4A-DE2D-4820-A3A4-B3C26D56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1CB6B-ED6D-46AA-BBC6-7DFB0922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28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</a:defRPr>
            </a:pPr>
            <a:r>
              <a:rPr sz="1125" b="1">
                <a:solidFill>
                  <a:srgbClr val="10233F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B2065-FB33-4AEC-8270-12EBBC9F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Vista analítica</a:t>
            </a:r>
          </a:p>
          <a:p xmlns:a="http://schemas.openxmlformats.org/drawingml/2006/main"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vw_creditos_analitico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1225F-02F5-4EF5-A1DF-3D751622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2387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6791A2-A4D8-46B3-ABCA-217093D7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Rutas principales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21535-25F8-4EA0-9641-BA490B52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C0FF"/>
                </a:solidFill>
              </a:defRPr>
            </a:pPr>
            <a:r>
              <a:rPr sz="975" b="1">
                <a:solidFill>
                  <a:srgbClr val="8FC0FF"/>
                </a:solidFill>
              </a:rPr>
              <a:t>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96A6B-110D-49A2-8964-E52909BD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76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4E1F0"/>
                </a:solidFill>
              </a:defRPr>
            </a:pPr>
            <a:r>
              <a:rPr sz="975" b="0">
                <a:solidFill>
                  <a:srgbClr val="D4E1F0"/>
                </a:solidFill>
              </a:rPr>
              <a:t>Interfaz del 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96ADF6-1A45-4070-87D9-BEB90386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C0FF"/>
                </a:solidFill>
              </a:defRPr>
            </a:pPr>
            <a:r>
              <a:rPr sz="975" b="1">
                <a:solidFill>
                  <a:srgbClr val="8FC0FF"/>
                </a:solidFill>
              </a:rPr>
              <a:t>/api/health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770891-3196-458C-A7C7-FD330778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00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4E1F0"/>
                </a:solidFill>
              </a:defRPr>
            </a:pPr>
            <a:r>
              <a:rPr sz="975" b="0">
                <a:solidFill>
                  <a:srgbClr val="D4E1F0"/>
                </a:solidFill>
              </a:rPr>
              <a:t>Estado de la aplicación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BBFF75-35E6-4B0D-83AC-B2D86FD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C0FF"/>
                </a:solidFill>
              </a:defRPr>
            </a:pPr>
            <a:r>
              <a:rPr sz="975" b="1">
                <a:solidFill>
                  <a:srgbClr val="8FC0FF"/>
                </a:solidFill>
              </a:rPr>
              <a:t>/api/filtros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8BAB37-2345-4FB9-A83B-EF15525E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24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4E1F0"/>
                </a:solidFill>
              </a:defRPr>
            </a:pPr>
            <a:r>
              <a:rPr sz="975" b="0">
                <a:solidFill>
                  <a:srgbClr val="D4E1F0"/>
                </a:solidFill>
              </a:rPr>
              <a:t>Opciones para los filtros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15507-4A9A-4F76-BAF8-96635E85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482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C0FF"/>
                </a:solidFill>
              </a:defRPr>
            </a:pPr>
            <a:r>
              <a:rPr sz="975" b="1">
                <a:solidFill>
                  <a:srgbClr val="8FC0FF"/>
                </a:solidFill>
              </a:rPr>
              <a:t>/api/dashboard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84B876-2661-4E96-B478-A02630E7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48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4E1F0"/>
                </a:solidFill>
              </a:defRPr>
            </a:pPr>
            <a:r>
              <a:rPr sz="975" b="0">
                <a:solidFill>
                  <a:srgbClr val="D4E1F0"/>
                </a:solidFill>
              </a:rPr>
              <a:t>KPIs y series analíticas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557F36-5A82-4523-9926-A133BB48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54864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A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4F7F8-7D1F-4059-B729-7FBA36DB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57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</a:defRPr>
            </a:pPr>
            <a:r>
              <a:rPr sz="1350" b="1">
                <a:solidFill>
                  <a:srgbClr val="10233F"/>
                </a:solidFill>
              </a:rPr>
              <a:t>Comparación con Spring Boot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5960EC-830F-4857-AF9C-E4ABB0C2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Controller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EAC784-BAE9-4056-918D-339093DF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→ web/app.py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7BC951-0682-4B0F-AA07-D20E530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Service / Repository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4B362C-097A-4DE8-A28F-B98C1323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→ DashboardService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7968C8-78E8-4323-B0B6-227DD82D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Entity / JPA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0E9662-EFF8-4F35-B918-38F12B36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→ tablas, vistas y SQL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B75C70-B0FA-47B8-A6C1-CA3D9DC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Flask funciona como backend y servidor web dentro del mismo proyecto.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39535E-ECDE-4C41-AC81-7F6F6D09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Arquitectura web implementada sin Angular ni frontend separado.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1C8B2E-1670-4949-B84B-46C7EE3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1725203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BE9F79-9D9B-4E74-B51A-CB85482C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250A4-4701-46B2-A839-EBF6AFF5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</a:defRPr>
            </a:pPr>
            <a:r>
              <a:rPr sz="2400" b="1">
                <a:solidFill>
                  <a:srgbClr val="10233F"/>
                </a:solidFill>
              </a:rPr>
              <a:t>Consumo interactivo de los datos del DataMart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B9A60-0D8D-49AF-A196-3E74A11E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5A8"/>
                </a:solidFill>
              </a:defRPr>
            </a:pPr>
            <a:r>
              <a:rPr sz="1050" b="1">
                <a:solidFill>
                  <a:srgbClr val="8795A8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DC6F-26A5-4C6B-8245-6E9008CF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81057-7C9B-405F-B5B6-9BDFFE91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003336c6c4652"/>
          <a:stretch xmlns:a="http://schemas.openxmlformats.org/drawingml/2006/main"/>
        </p:blipFill>
        <p:spPr>
          <a:xfrm xmlns:a="http://schemas.openxmlformats.org/drawingml/2006/main">
            <a:off x="2830286" y="1562100"/>
            <a:ext cx="6531429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8D484-4A57-4E50-A871-7B6B2F0D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35C1D-D3E1-4F82-BBFF-E81DC099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FEB"/>
                </a:solidFill>
              </a:defRPr>
            </a:pPr>
            <a:r>
              <a:rPr sz="900" b="1">
                <a:solidFill>
                  <a:srgbClr val="1F6FEB"/>
                </a:solidFill>
              </a:rPr>
              <a:t>FILTROS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BBE34-6E30-4EFE-9CFF-01384A70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340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6A970-E7A3-4643-910B-3AB8C2E5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531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KPIs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BB78B-7FA6-403C-9B79-1717E078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340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C512E-2359-4110-AFE2-7C42E7C8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F43"/>
                </a:solidFill>
              </a:defRPr>
            </a:pPr>
            <a:r>
              <a:rPr sz="900" b="1">
                <a:solidFill>
                  <a:srgbClr val="FF9F43"/>
                </a:solidFill>
              </a:rPr>
              <a:t>GRÁFICOS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5CE72-1BE5-4BBD-8DAF-821B7E9F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340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C59B3-B88E-4CFC-AA80-EF97071E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531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559C7"/>
                </a:solidFill>
              </a:defRPr>
            </a:pPr>
            <a:r>
              <a:rPr sz="900" b="1">
                <a:solidFill>
                  <a:srgbClr val="7559C7"/>
                </a:solidFill>
              </a:rPr>
              <a:t>API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43FFE-1529-4DF1-8745-5936C12D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43575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Demo sugerida: cambiar producto o departamento y mostrar cómo se recalculan los indicadores.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B46C0-86B6-4EB6-9BDF-2FB5F2A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Captura real del dashboard web ejecutándose sobre Flask y MySQL.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C6621-B220-4EFD-B954-C2DA64DA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798"/>
                </a:solidFill>
              </a:defRPr>
            </a:pPr>
            <a:r>
              <a:rPr sz="675" b="0">
                <a:solidFill>
                  <a:srgbClr val="7A8798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1076414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230EB5-CCF9-4744-8762-D4C1A559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C6F4"/>
                </a:solidFill>
              </a:defRPr>
            </a:pPr>
            <a:r>
              <a:rPr sz="900" b="1">
                <a:solidFill>
                  <a:srgbClr val="A9C6F4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CFE70-2311-493D-AEFE-C6618F6E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El Avance 2 quedó implementado y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B2E92-731F-4C19-A5F0-E193798C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6F4"/>
                </a:solidFill>
              </a:defRPr>
            </a:pPr>
            <a:r>
              <a:rPr sz="1050" b="1">
                <a:solidFill>
                  <a:srgbClr val="A9C6F4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8A380-7C84-4753-94CB-3A679426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F257B-4527-4DB0-B12A-6A5C94A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85F"/>
          </a:solidFill>
          <a:ln xmlns:a="http://schemas.openxmlformats.org/drawingml/2006/main" w="9525">
            <a:solidFill>
              <a:srgbClr val="335A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B3112-3F47-4E99-8666-379A2355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D117C-62AA-4BEE-9FA7-5563F294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B31A8-54E4-4245-8B38-304EF53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287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Base de datos implementada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2715-E2A2-44CD-9634-BA2E3D6C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85F"/>
          </a:solidFill>
          <a:ln xmlns:a="http://schemas.openxmlformats.org/drawingml/2006/main" w="9525">
            <a:solidFill>
              <a:srgbClr val="335A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2BF3E-9788-46AB-A14E-C31BDB1C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70D02-F5D7-4F33-9198-3A0ECE27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C8797-BA3C-401E-888D-B3DBAF93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287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Scripts SQL y restricciones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F40C6-7430-40C5-B5AA-8AC56ACF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85F"/>
          </a:solidFill>
          <a:ln xmlns:a="http://schemas.openxmlformats.org/drawingml/2006/main" w="9525">
            <a:solidFill>
              <a:srgbClr val="335A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03E0E-8A64-451F-B04C-6AD2985E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C7FAF-7C0D-4BBF-B45C-8F2E5080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FB54D-0A29-4C87-A13A-081A0009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526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ETL funcional en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64CFE-5A1F-4020-ACD2-110325C9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85F"/>
          </a:solidFill>
          <a:ln xmlns:a="http://schemas.openxmlformats.org/drawingml/2006/main" w="9525">
            <a:solidFill>
              <a:srgbClr val="335A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A0579-BBDB-4FD2-BF68-A30D89AA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82C22-C215-4EB7-BAFA-C891CC39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5DC04-6A4B-4339-92BA-421CE8F7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526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Carga inicial e incremental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A8831-19D0-4312-A728-C217F8B0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85F"/>
          </a:solidFill>
          <a:ln xmlns:a="http://schemas.openxmlformats.org/drawingml/2006/main" w="9525">
            <a:solidFill>
              <a:srgbClr val="335A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5421A-0EE6-458E-AF62-154BA300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ABAF6-66A5-4510-9F37-6DF8B397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41087-8293-4C2E-AADD-FC6C5AC7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76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Tabla de hechos y dimensiones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9BFFB-4EDB-42E6-96F4-9486A004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85F"/>
          </a:solidFill>
          <a:ln xmlns:a="http://schemas.openxmlformats.org/drawingml/2006/main" w="9525">
            <a:solidFill>
              <a:srgbClr val="335A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2EB67-587E-4B8A-8A5F-F569EB49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29EAE-87A9-4743-A845-D4CCB79F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9226AD-B4B0-47D7-941F-3639BE3B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76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Validaciones y pruebas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E331FE-BD9A-4C94-9F34-A088D63B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85F"/>
          </a:solidFill>
          <a:ln xmlns:a="http://schemas.openxmlformats.org/drawingml/2006/main" w="9525">
            <a:solidFill>
              <a:srgbClr val="335A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E655F1-ADCB-493E-ADDC-DF1A5BBC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F6B52-88CE-4FE3-9533-29D4FAF3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63BD09-E49A-4D1F-9995-6E2C796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Dashboard web con filtros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9E37E7-6FE2-4100-978A-31BB828D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85F"/>
          </a:solidFill>
          <a:ln xmlns:a="http://schemas.openxmlformats.org/drawingml/2006/main" w="9525">
            <a:solidFill>
              <a:srgbClr val="335A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EB7CF9-9784-4227-87CC-0E51AF11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5D12B6-21B9-46D3-9198-410DB700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81C8FA-4A2A-4154-974E-D3BA632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004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Evidencias técnicas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5E03F0-76BB-4535-AE27-238B548B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DE542A-CCCE-4248-9D52-4BAB81CA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</a:defRPr>
            </a:pPr>
            <a:r>
              <a:rPr sz="1200" b="1">
                <a:solidFill>
                  <a:srgbClr val="1F6FEB"/>
                </a:solidFill>
              </a:rPr>
              <a:t>Conclusión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E2A5C2-BB33-4610-B6C2-1D0D546C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Una fuente de una sola tabla sí puede convertirse en una solución de Inteligencia de Negocios completa cuando se aplican modelado dimensional, ETL, calidad de datos y una capa de consumo.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F10068-6336-4D29-B9F8-828FBA96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515919-C50F-40A7-ADAF-4C10C162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115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9CAE0"/>
                </a:solidFill>
              </a:defRPr>
            </a:pPr>
            <a:r>
              <a:rPr sz="1050" b="0">
                <a:solidFill>
                  <a:srgbClr val="B9CAE0"/>
                </a:solidFill>
              </a:rPr>
              <a:t>Demostración: ETL → MySQL → dashboard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1F4621-B1FC-467D-89FA-48BB5DEF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CAE0"/>
                </a:solidFill>
              </a:defRPr>
            </a:pPr>
            <a:r>
              <a:rPr sz="675" b="0">
                <a:solidFill>
                  <a:srgbClr val="B9CAE0"/>
                </a:solidFill>
              </a:rPr>
              <a:t>Fuente general: elaboración propia con datos de Fondo MIVIVIENDA S.A. (2025).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ADB3F9-BDBE-4859-98E0-F669FE3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9CAE0"/>
                </a:solidFill>
              </a:defRPr>
            </a:pPr>
            <a:r>
              <a:rPr sz="675" b="0">
                <a:solidFill>
                  <a:srgbClr val="B9CAE0"/>
                </a:solidFill>
              </a:rPr>
              <a:t>Inteligencia de Negocios | Avance 2</a:t>
            </a:r>
          </a:p>
        </p:txBody>
      </p:sp>
    </p:spTree>
    <p:extLst>
      <p:ext uri="{BB962C8B-B14F-4D97-AF65-F5344CB8AC3E}">
        <p14:creationId xmlns:p14="http://schemas.microsoft.com/office/powerpoint/2010/main" val="662416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2026-06-15T20:45:59.7930000Z</dcterms:created>
  <dcterms:modified xsi:type="dcterms:W3CDTF">2026-06-15T20:45:59.7930000Z</dcterms:modified>
</coreProperties>
</file>